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66" r:id="rId6"/>
    <p:sldId id="260" r:id="rId7"/>
    <p:sldId id="261" r:id="rId8"/>
    <p:sldId id="262" r:id="rId9"/>
    <p:sldId id="263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86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7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28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3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72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0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8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23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76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33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316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5647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53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715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38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775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13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98D7ABC-FAF4-4757-B2B6-1A15359B34EE}" type="datetimeFigureOut">
              <a:rPr lang="pt-BR" smtClean="0"/>
              <a:t>28/10/2020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31293-6E65-470D-A401-845605124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820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ebsql.org/websql/help/sqlserver2000/tsql/ts_ia-iz_3ss4.html" TargetMode="External"/><Relationship Id="rId2" Type="http://schemas.openxmlformats.org/officeDocument/2006/relationships/hyperlink" Target="http://www.unicode.org/standard/WhatIsUnicod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pt-br/sql/t-sql/data-types/money-and-smallmoney-transact-sql?view=sql-server-ver15" TargetMode="External"/><Relationship Id="rId5" Type="http://schemas.openxmlformats.org/officeDocument/2006/relationships/hyperlink" Target="https://docs.microsoft.com/pt-br/sql/t-sql/data-types/int-bigint-smallint-and-tinyint-transact-sql?view=sql-server-ver15" TargetMode="External"/><Relationship Id="rId4" Type="http://schemas.openxmlformats.org/officeDocument/2006/relationships/hyperlink" Target="http://net-informations.com/q/faq/floa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TIPOS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smtClean="0"/>
              <a:t>Diferenças e aplicações em </a:t>
            </a:r>
            <a:r>
              <a:rPr lang="pt-BR" b="1" dirty="0" err="1" smtClean="0"/>
              <a:t>sql</a:t>
            </a:r>
            <a:r>
              <a:rPr lang="pt-BR" b="1" dirty="0" smtClean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6982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UNICODE?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Unicode é uma forma diferente de armazenamento de dados. </a:t>
            </a:r>
            <a:r>
              <a:rPr lang="pt-BR" dirty="0"/>
              <a:t>O padrão Unicode fornece um número exclusivo para cada caractere, independentemente da plataforma, dispositivo, aplicativo ou idioma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Exemplo: </a:t>
            </a:r>
          </a:p>
          <a:p>
            <a:pPr marL="0" indent="0" algn="just">
              <a:buNone/>
            </a:pPr>
            <a:r>
              <a:rPr lang="pl-PL" dirty="0" smtClean="0"/>
              <a:t>B-U+0042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R-U+0052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A-U+0041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S-U+0053</a:t>
            </a:r>
            <a:r>
              <a:rPr lang="pl-PL" dirty="0"/>
              <a:t/>
            </a:r>
            <a:br>
              <a:rPr lang="pl-PL" dirty="0"/>
            </a:br>
            <a:r>
              <a:rPr lang="pl-PL" dirty="0" smtClean="0"/>
              <a:t>I-U+0049</a:t>
            </a:r>
            <a:r>
              <a:rPr lang="pl-PL" dirty="0"/>
              <a:t/>
            </a:r>
            <a:br>
              <a:rPr lang="pl-PL" dirty="0"/>
            </a:br>
            <a:r>
              <a:rPr lang="pt-BR" dirty="0" smtClean="0"/>
              <a:t>								   </a:t>
            </a:r>
            <a:r>
              <a:rPr lang="pl-PL" dirty="0" smtClean="0"/>
              <a:t>L-U+004C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5200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412276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 smtClean="0"/>
              <a:t>CHAR – </a:t>
            </a:r>
            <a:r>
              <a:rPr lang="pt-BR" dirty="0"/>
              <a:t>Sequência de caracteres de tamanho fixo. Máximo 8000 </a:t>
            </a:r>
            <a:r>
              <a:rPr lang="pt-BR" dirty="0" smtClean="0"/>
              <a:t>caracteres.</a:t>
            </a:r>
          </a:p>
          <a:p>
            <a:endParaRPr lang="pt-BR" b="1" dirty="0"/>
          </a:p>
          <a:p>
            <a:r>
              <a:rPr lang="pt-BR" b="1" dirty="0" smtClean="0"/>
              <a:t>NCHAR – </a:t>
            </a:r>
            <a:r>
              <a:rPr lang="pt-BR" dirty="0"/>
              <a:t>Dados Unicode de comprimento fixo. Máximo 4000 </a:t>
            </a:r>
            <a:r>
              <a:rPr lang="pt-BR" dirty="0" smtClean="0"/>
              <a:t>caracteres.</a:t>
            </a:r>
          </a:p>
          <a:p>
            <a:endParaRPr lang="pt-BR" b="1" dirty="0" smtClean="0"/>
          </a:p>
          <a:p>
            <a:r>
              <a:rPr lang="pt-BR" b="1" dirty="0"/>
              <a:t>VARCHAR </a:t>
            </a:r>
            <a:r>
              <a:rPr lang="pt-BR" b="1" dirty="0" smtClean="0"/>
              <a:t>– </a:t>
            </a:r>
            <a:r>
              <a:rPr lang="pt-BR" dirty="0" smtClean="0"/>
              <a:t>Sequência </a:t>
            </a:r>
            <a:r>
              <a:rPr lang="pt-BR" dirty="0"/>
              <a:t>de caracteres de tamanho variável. Máximo de 1.073.741.824 caracteres</a:t>
            </a:r>
            <a:r>
              <a:rPr lang="pt-BR" dirty="0" smtClean="0"/>
              <a:t>.</a:t>
            </a:r>
          </a:p>
          <a:p>
            <a:endParaRPr lang="pt-BR" b="1" dirty="0"/>
          </a:p>
          <a:p>
            <a:r>
              <a:rPr lang="pt-BR" b="1" dirty="0" smtClean="0"/>
              <a:t>NVARCHAR – </a:t>
            </a:r>
            <a:r>
              <a:rPr lang="pt-BR" dirty="0"/>
              <a:t>Dados Unicode de comprimento </a:t>
            </a:r>
            <a:r>
              <a:rPr lang="pt-BR" dirty="0" smtClean="0"/>
              <a:t>variável. Máximo </a:t>
            </a:r>
            <a:r>
              <a:rPr lang="pt-BR" dirty="0"/>
              <a:t>536.870.912 </a:t>
            </a:r>
            <a:r>
              <a:rPr lang="pt-BR" dirty="0" smtClean="0"/>
              <a:t>caracteres.</a:t>
            </a:r>
            <a:endParaRPr lang="pt-BR" b="1" dirty="0" smtClean="0"/>
          </a:p>
          <a:p>
            <a:endParaRPr lang="pt-BR" b="1" dirty="0"/>
          </a:p>
          <a:p>
            <a:r>
              <a:rPr lang="pt-BR" b="1" dirty="0" smtClean="0"/>
              <a:t>NTEXT – </a:t>
            </a:r>
            <a:r>
              <a:rPr lang="pt-BR" dirty="0"/>
              <a:t>Dados Unicode de comprimento variável. Máximo 2GB de dados de </a:t>
            </a:r>
            <a:r>
              <a:rPr lang="pt-BR" dirty="0" smtClean="0"/>
              <a:t>texto.</a:t>
            </a:r>
            <a:endParaRPr lang="pt-BR" b="1" dirty="0" smtClean="0"/>
          </a:p>
          <a:p>
            <a:endParaRPr lang="pt-BR" b="1" dirty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9338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para entrada de numéricos</a:t>
            </a:r>
            <a:br>
              <a:rPr lang="pt-BR" dirty="0" smtClean="0"/>
            </a:br>
            <a:r>
              <a:rPr lang="pt-BR" sz="1800" dirty="0"/>
              <a:t>(Suporte para </a:t>
            </a:r>
            <a:r>
              <a:rPr lang="pt-BR" sz="1800" dirty="0" smtClean="0"/>
              <a:t>números inteiros)</a:t>
            </a:r>
            <a:endParaRPr lang="pt-BR" sz="1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TINYINT </a:t>
            </a:r>
            <a:r>
              <a:rPr lang="pt-BR" b="1" dirty="0" smtClean="0"/>
              <a:t>– </a:t>
            </a:r>
            <a:r>
              <a:rPr lang="en-US" dirty="0" smtClean="0"/>
              <a:t>1 </a:t>
            </a:r>
            <a:r>
              <a:rPr lang="en-US" dirty="0"/>
              <a:t>byte, 0 a </a:t>
            </a:r>
            <a:r>
              <a:rPr lang="en-US" dirty="0" smtClean="0"/>
              <a:t>255.</a:t>
            </a:r>
            <a:endParaRPr lang="pt-BR" b="1" dirty="0" smtClean="0"/>
          </a:p>
          <a:p>
            <a:r>
              <a:rPr lang="pt-BR" b="1" dirty="0"/>
              <a:t>SMALLINT – </a:t>
            </a:r>
            <a:r>
              <a:rPr lang="pt-BR" dirty="0"/>
              <a:t>2 bytes, -2 ^ 15 (-32.768) a 2 ^ 15-1 (32.767</a:t>
            </a:r>
            <a:r>
              <a:rPr lang="pt-BR" dirty="0" smtClean="0"/>
              <a:t>).</a:t>
            </a:r>
            <a:endParaRPr lang="pt-BR" b="1" dirty="0"/>
          </a:p>
          <a:p>
            <a:r>
              <a:rPr lang="pt-BR" b="1" dirty="0"/>
              <a:t>INT – </a:t>
            </a:r>
            <a:r>
              <a:rPr lang="pt-BR" dirty="0"/>
              <a:t>4 bytes, -2 ^ 31 (-2.147.483.648) a 2 ^ 31-1 (2.147.483.647</a:t>
            </a:r>
            <a:r>
              <a:rPr lang="pt-BR" dirty="0" smtClean="0"/>
              <a:t>).</a:t>
            </a:r>
            <a:endParaRPr lang="pt-BR" b="1" dirty="0" smtClean="0"/>
          </a:p>
          <a:p>
            <a:r>
              <a:rPr lang="pt-BR" b="1" dirty="0" smtClean="0"/>
              <a:t>BIGINT – </a:t>
            </a:r>
            <a:r>
              <a:rPr lang="pt-BR" dirty="0"/>
              <a:t>8 bytes, -2 ^ 63 (-9.223.372.036.854.775.808) a 2 ^ 63-1 (9.223.372.036.854.775.807</a:t>
            </a:r>
            <a:r>
              <a:rPr lang="pt-BR" dirty="0" smtClean="0"/>
              <a:t>).</a:t>
            </a:r>
            <a:endParaRPr lang="pt-BR" b="1" dirty="0" smtClean="0"/>
          </a:p>
          <a:p>
            <a:pPr marL="0" indent="0">
              <a:buNone/>
            </a:pPr>
            <a:endParaRPr lang="pt-BR" b="1" dirty="0" smtClean="0"/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2141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</a:t>
            </a:r>
            <a:r>
              <a:rPr lang="pt-BR" dirty="0"/>
              <a:t>para entrada de </a:t>
            </a:r>
            <a:r>
              <a:rPr lang="pt-BR" dirty="0" smtClean="0"/>
              <a:t>numéricos</a:t>
            </a:r>
            <a:br>
              <a:rPr lang="pt-BR" dirty="0" smtClean="0"/>
            </a:br>
            <a:r>
              <a:rPr lang="pt-BR" sz="1800" dirty="0" smtClean="0"/>
              <a:t>(Suporte para casas decimais)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FLOAT – </a:t>
            </a:r>
            <a:r>
              <a:rPr lang="pt-BR" dirty="0"/>
              <a:t>32 bit (7 dígitos).</a:t>
            </a:r>
            <a:endParaRPr lang="pt-BR" b="1" dirty="0"/>
          </a:p>
          <a:p>
            <a:r>
              <a:rPr lang="pt-BR" b="1" dirty="0"/>
              <a:t>REAL – </a:t>
            </a:r>
            <a:r>
              <a:rPr lang="pt-BR" dirty="0"/>
              <a:t>64 bits (15-16 dígitos).</a:t>
            </a:r>
            <a:endParaRPr lang="pt-BR" b="1" dirty="0"/>
          </a:p>
          <a:p>
            <a:r>
              <a:rPr lang="pt-BR" b="1" dirty="0"/>
              <a:t>DECIMAL – </a:t>
            </a:r>
            <a:r>
              <a:rPr lang="pt-BR" dirty="0"/>
              <a:t>128 bits (28-29 dígitos significativos).</a:t>
            </a:r>
            <a:endParaRPr lang="pt-BR" b="1" dirty="0"/>
          </a:p>
          <a:p>
            <a:r>
              <a:rPr lang="pt-BR" b="1" dirty="0"/>
              <a:t>SMALLMONEY – </a:t>
            </a:r>
            <a:r>
              <a:rPr lang="pt-BR" dirty="0"/>
              <a:t>8 bytes (-922.337.203.685.477,5808 a 922.337.203.685.477,5807) mantendo apenas duas casas após a vírgula.</a:t>
            </a:r>
            <a:endParaRPr lang="pt-BR" b="1" dirty="0"/>
          </a:p>
          <a:p>
            <a:r>
              <a:rPr lang="pt-BR" b="1" dirty="0"/>
              <a:t>MONEY – </a:t>
            </a:r>
            <a:r>
              <a:rPr lang="pt-BR" dirty="0"/>
              <a:t>4 bytes (-214.748,3648 a 214.748,3647).</a:t>
            </a:r>
            <a:endParaRPr lang="pt-BR" b="1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9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COMANDOS DDL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70865" y="4777381"/>
            <a:ext cx="8825658" cy="861420"/>
          </a:xfrm>
        </p:spPr>
        <p:txBody>
          <a:bodyPr/>
          <a:lstStyle/>
          <a:p>
            <a:r>
              <a:rPr lang="pt-BR" b="1" dirty="0" err="1" smtClean="0"/>
              <a:t>Create</a:t>
            </a:r>
            <a:r>
              <a:rPr lang="pt-BR" b="1" dirty="0" smtClean="0"/>
              <a:t>, </a:t>
            </a:r>
            <a:r>
              <a:rPr lang="pt-BR" b="1" dirty="0" err="1" smtClean="0"/>
              <a:t>alter</a:t>
            </a:r>
            <a:r>
              <a:rPr lang="pt-BR" b="1" dirty="0" smtClean="0"/>
              <a:t> e </a:t>
            </a:r>
            <a:r>
              <a:rPr lang="pt-BR" b="1" dirty="0" err="1" smtClean="0"/>
              <a:t>drop</a:t>
            </a:r>
            <a:r>
              <a:rPr lang="pt-BR" b="1" dirty="0" smtClean="0"/>
              <a:t> </a:t>
            </a:r>
            <a:r>
              <a:rPr lang="pt-BR" b="1" dirty="0" err="1" smtClean="0"/>
              <a:t>table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2330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CREATE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95" y="2847828"/>
            <a:ext cx="2902627" cy="1273410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451538" y="2485623"/>
            <a:ext cx="862885" cy="257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94948" y="1746959"/>
            <a:ext cx="2665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da linguagem SQL para criação de tabelas. </a:t>
            </a:r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SEMPRE USE LETRAS MAIÚSCULAS.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Conector de seta reta 11"/>
          <p:cNvCxnSpPr/>
          <p:nvPr/>
        </p:nvCxnSpPr>
        <p:spPr>
          <a:xfrm flipH="1">
            <a:off x="6503831" y="2369713"/>
            <a:ext cx="386366" cy="373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7071522" y="1700011"/>
            <a:ext cx="325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tabela. Sempre com a primeira letra maiúscula.</a:t>
            </a:r>
            <a:endParaRPr lang="pt-BR" dirty="0"/>
          </a:p>
        </p:txBody>
      </p:sp>
      <p:cxnSp>
        <p:nvCxnSpPr>
          <p:cNvPr id="15" name="Conector de seta reta 14"/>
          <p:cNvCxnSpPr/>
          <p:nvPr/>
        </p:nvCxnSpPr>
        <p:spPr>
          <a:xfrm flipV="1">
            <a:off x="3451538" y="3438659"/>
            <a:ext cx="1081825" cy="888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1983346" y="4559121"/>
            <a:ext cx="276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das colunas da tabela.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 flipH="1" flipV="1">
            <a:off x="6181859" y="3309870"/>
            <a:ext cx="1506828" cy="231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7907628" y="3528811"/>
            <a:ext cx="320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Tipo de dados que a coluna irá armazenar.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1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 TABLE: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915" y="2899692"/>
            <a:ext cx="4663105" cy="899575"/>
          </a:xfrm>
        </p:spPr>
      </p:pic>
      <p:cxnSp>
        <p:nvCxnSpPr>
          <p:cNvPr id="8" name="Conector de seta reta 7"/>
          <p:cNvCxnSpPr/>
          <p:nvPr/>
        </p:nvCxnSpPr>
        <p:spPr>
          <a:xfrm>
            <a:off x="3013656" y="2562896"/>
            <a:ext cx="1030310" cy="399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287887" y="1853248"/>
            <a:ext cx="3000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permite alterar determinada tabela.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104586" y="2314913"/>
            <a:ext cx="1790163" cy="746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8193020" y="2002982"/>
            <a:ext cx="374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Nome da tabela a ser alterada.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 flipV="1">
            <a:off x="3657600" y="3593206"/>
            <a:ext cx="1004552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1378039" y="4559122"/>
            <a:ext cx="2485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Instrução que define o que será alterado (no caso, será alteração de coluna).</a:t>
            </a:r>
            <a:endParaRPr lang="pt-BR" dirty="0"/>
          </a:p>
        </p:txBody>
      </p:sp>
      <p:cxnSp>
        <p:nvCxnSpPr>
          <p:cNvPr id="18" name="Conector de seta reta 17"/>
          <p:cNvCxnSpPr/>
          <p:nvPr/>
        </p:nvCxnSpPr>
        <p:spPr>
          <a:xfrm flipH="1" flipV="1">
            <a:off x="6220496" y="3593206"/>
            <a:ext cx="270456" cy="798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5447763" y="4700789"/>
            <a:ext cx="2176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coluna que será alterada.</a:t>
            </a:r>
            <a:endParaRPr lang="pt-BR" dirty="0"/>
          </a:p>
        </p:txBody>
      </p:sp>
      <p:cxnSp>
        <p:nvCxnSpPr>
          <p:cNvPr id="21" name="Conector de seta reta 20"/>
          <p:cNvCxnSpPr/>
          <p:nvPr/>
        </p:nvCxnSpPr>
        <p:spPr>
          <a:xfrm flipH="1" flipV="1">
            <a:off x="7650052" y="3589267"/>
            <a:ext cx="953035" cy="5190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698552" y="4108332"/>
            <a:ext cx="2704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Alteração do número de caracteres que a variável do tipo </a:t>
            </a:r>
            <a:r>
              <a:rPr lang="pt-BR" dirty="0" err="1" smtClean="0"/>
              <a:t>varchar</a:t>
            </a:r>
            <a:r>
              <a:rPr lang="pt-BR" dirty="0" smtClean="0"/>
              <a:t> receberá.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98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DROP TABLE: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99" y="3533926"/>
            <a:ext cx="4810882" cy="574434"/>
          </a:xfrm>
        </p:spPr>
      </p:pic>
      <p:sp>
        <p:nvSpPr>
          <p:cNvPr id="5" name="Chave direita 4"/>
          <p:cNvSpPr/>
          <p:nvPr/>
        </p:nvSpPr>
        <p:spPr>
          <a:xfrm rot="16200000">
            <a:off x="4064017" y="2647200"/>
            <a:ext cx="309093" cy="144243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998501" y="2516712"/>
            <a:ext cx="244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Comando para exclusão de tabela.</a:t>
            </a:r>
            <a:endParaRPr lang="pt-BR" dirty="0"/>
          </a:p>
        </p:txBody>
      </p:sp>
      <p:sp>
        <p:nvSpPr>
          <p:cNvPr id="7" name="Chave direita 6"/>
          <p:cNvSpPr/>
          <p:nvPr/>
        </p:nvSpPr>
        <p:spPr>
          <a:xfrm rot="5400000">
            <a:off x="5705341" y="3607360"/>
            <a:ext cx="373488" cy="135739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414898" y="4546239"/>
            <a:ext cx="3196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Verifica se a tabela existe antes de executar o comando de exclusão.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7804597" y="3342660"/>
            <a:ext cx="862885" cy="258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8603087" y="2839877"/>
            <a:ext cx="2343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Nome da tabela que será excluída.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3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PRIMARY KEY</a:t>
            </a:r>
            <a:endParaRPr lang="pt-BR" dirty="0"/>
          </a:p>
        </p:txBody>
      </p:sp>
      <p:sp>
        <p:nvSpPr>
          <p:cNvPr id="20" name="Espaço Reservado para Conteúdo 19"/>
          <p:cNvSpPr>
            <a:spLocks noGrp="1"/>
          </p:cNvSpPr>
          <p:nvPr>
            <p:ph idx="1"/>
          </p:nvPr>
        </p:nvSpPr>
        <p:spPr>
          <a:xfrm>
            <a:off x="646111" y="2190079"/>
            <a:ext cx="9851199" cy="2756825"/>
          </a:xfrm>
        </p:spPr>
        <p:txBody>
          <a:bodyPr>
            <a:normAutofit/>
          </a:bodyPr>
          <a:lstStyle/>
          <a:p>
            <a:r>
              <a:rPr lang="pt-BR" dirty="0"/>
              <a:t>A chave primária, ou </a:t>
            </a:r>
            <a:r>
              <a:rPr lang="pt-BR" dirty="0" err="1"/>
              <a:t>p</a:t>
            </a:r>
            <a:r>
              <a:rPr lang="pt-BR" dirty="0" err="1" smtClean="0"/>
              <a:t>rimary</a:t>
            </a:r>
            <a:r>
              <a:rPr lang="pt-BR" dirty="0" smtClean="0"/>
              <a:t> </a:t>
            </a:r>
            <a:r>
              <a:rPr lang="pt-BR" dirty="0" err="1"/>
              <a:t>key</a:t>
            </a:r>
            <a:r>
              <a:rPr lang="pt-BR" dirty="0"/>
              <a:t>, é o conceito mais básico relacionado à organização em um banco de dados. Toda tabela possuirá uma, e somente uma, chave primária. Essa chave é utilizada como </a:t>
            </a:r>
            <a:r>
              <a:rPr lang="pt-BR" b="1" dirty="0"/>
              <a:t>identificador único</a:t>
            </a:r>
            <a:r>
              <a:rPr lang="pt-BR" dirty="0"/>
              <a:t> da tabela, sendo representada por aquele campo (ou campos) que não receberá valores repetidos.</a:t>
            </a:r>
          </a:p>
        </p:txBody>
      </p:sp>
    </p:spTree>
    <p:extLst>
      <p:ext uri="{BB962C8B-B14F-4D97-AF65-F5344CB8AC3E}">
        <p14:creationId xmlns:p14="http://schemas.microsoft.com/office/powerpoint/2010/main" val="376880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PRIMARY KEY</a:t>
            </a:r>
            <a:endParaRPr lang="pt-BR" dirty="0"/>
          </a:p>
        </p:txBody>
      </p:sp>
      <p:pic>
        <p:nvPicPr>
          <p:cNvPr id="9" name="Espaço Reservado para Conteúdo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6"/>
          <a:stretch/>
        </p:blipFill>
        <p:spPr>
          <a:xfrm>
            <a:off x="2578894" y="2821781"/>
            <a:ext cx="6927850" cy="1960531"/>
          </a:xfrm>
        </p:spPr>
      </p:pic>
      <p:sp>
        <p:nvSpPr>
          <p:cNvPr id="5" name="CaixaDeTexto 4"/>
          <p:cNvSpPr txBox="1"/>
          <p:nvPr/>
        </p:nvSpPr>
        <p:spPr>
          <a:xfrm>
            <a:off x="2578894" y="185295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Chave Primária</a:t>
            </a:r>
            <a:endParaRPr lang="pt-BR" dirty="0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3072384" y="2221992"/>
            <a:ext cx="146304" cy="115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72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04480" y="2446111"/>
            <a:ext cx="8946541" cy="2226474"/>
          </a:xfrm>
        </p:spPr>
        <p:txBody>
          <a:bodyPr/>
          <a:lstStyle/>
          <a:p>
            <a:r>
              <a:rPr lang="pt-BR" dirty="0"/>
              <a:t>A chave estrangeira, ou </a:t>
            </a:r>
            <a:r>
              <a:rPr lang="pt-BR" dirty="0" err="1"/>
              <a:t>foreign</a:t>
            </a:r>
            <a:r>
              <a:rPr lang="pt-BR" dirty="0"/>
              <a:t> </a:t>
            </a:r>
            <a:r>
              <a:rPr lang="pt-BR" dirty="0" err="1"/>
              <a:t>key</a:t>
            </a:r>
            <a:r>
              <a:rPr lang="pt-BR" dirty="0"/>
              <a:t>, é um conceito ligeiramente diferente. Ela não diz respeito, especificamente, a uma tabela, mas sim a um relacionamento entre tabelas. De forma sucinta, a chave estrangeira é uma referência em uma tabela a uma chave primária de outra tabela.</a:t>
            </a:r>
          </a:p>
        </p:txBody>
      </p:sp>
    </p:spTree>
    <p:extLst>
      <p:ext uri="{BB962C8B-B14F-4D97-AF65-F5344CB8AC3E}">
        <p14:creationId xmlns:p14="http://schemas.microsoft.com/office/powerpoint/2010/main" val="220891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38" y="3159919"/>
            <a:ext cx="6819900" cy="1981200"/>
          </a:xfrm>
        </p:spPr>
      </p:pic>
      <p:sp>
        <p:nvSpPr>
          <p:cNvPr id="9" name="CaixaDeTexto 8"/>
          <p:cNvSpPr txBox="1"/>
          <p:nvPr/>
        </p:nvSpPr>
        <p:spPr>
          <a:xfrm>
            <a:off x="7260336" y="1987232"/>
            <a:ext cx="26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FOREIGN KEY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5276088" y="2356564"/>
            <a:ext cx="2816352" cy="215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335527" y="5944474"/>
            <a:ext cx="4473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 DUAS TABELAS DEVEM TER A MESMA COLUNA PARA A RELAÇÃO.</a:t>
            </a:r>
            <a:endParaRPr lang="pt-BR" dirty="0"/>
          </a:p>
        </p:txBody>
      </p:sp>
      <p:cxnSp>
        <p:nvCxnSpPr>
          <p:cNvPr id="14" name="Conector de seta reta 13"/>
          <p:cNvCxnSpPr/>
          <p:nvPr/>
        </p:nvCxnSpPr>
        <p:spPr>
          <a:xfrm flipH="1" flipV="1">
            <a:off x="6163056" y="4877325"/>
            <a:ext cx="1618488" cy="1067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V="1">
            <a:off x="7781544" y="4877325"/>
            <a:ext cx="438912" cy="1067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41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IDENTITY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38720" y="2574127"/>
            <a:ext cx="9494583" cy="1860714"/>
          </a:xfrm>
        </p:spPr>
        <p:txBody>
          <a:bodyPr/>
          <a:lstStyle/>
          <a:p>
            <a:pPr algn="just"/>
            <a:r>
              <a:rPr lang="pt-BR" dirty="0"/>
              <a:t>A propriedade IDENTITY é utilizada para atributos (campos/colunas) das tabelas nas funções CREATE TABLE e ALTER TABLE, e tem como finalidade incrementar um valor a cada nova inserção.</a:t>
            </a:r>
          </a:p>
        </p:txBody>
      </p:sp>
    </p:spTree>
    <p:extLst>
      <p:ext uri="{BB962C8B-B14F-4D97-AF65-F5344CB8AC3E}">
        <p14:creationId xmlns:p14="http://schemas.microsoft.com/office/powerpoint/2010/main" val="271832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IDENTITY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6112" y="1271016"/>
            <a:ext cx="9403742" cy="4977383"/>
          </a:xfrm>
        </p:spPr>
        <p:txBody>
          <a:bodyPr/>
          <a:lstStyle/>
          <a:p>
            <a:r>
              <a:rPr lang="pt-BR" dirty="0"/>
              <a:t>A sintaxe para usar está propriedade é: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13" y="3759707"/>
            <a:ext cx="5238750" cy="1581150"/>
          </a:xfrm>
          <a:prstGeom prst="rect">
            <a:avLst/>
          </a:prstGeom>
        </p:spPr>
      </p:pic>
      <p:cxnSp>
        <p:nvCxnSpPr>
          <p:cNvPr id="8" name="Conector de seta reta 7"/>
          <p:cNvCxnSpPr/>
          <p:nvPr/>
        </p:nvCxnSpPr>
        <p:spPr>
          <a:xfrm flipH="1">
            <a:off x="6113210" y="3073468"/>
            <a:ext cx="1389888" cy="112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4873752" y="2852165"/>
            <a:ext cx="9145" cy="119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4013618" y="2205834"/>
            <a:ext cx="2001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Declare o tipo de dado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7503098" y="2299125"/>
            <a:ext cx="3800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Comando </a:t>
            </a:r>
            <a:r>
              <a:rPr lang="pt-BR" dirty="0" err="1" smtClean="0"/>
              <a:t>Identity</a:t>
            </a:r>
            <a:r>
              <a:rPr lang="pt-BR" dirty="0" smtClean="0"/>
              <a:t>, seguido pelo (¹)valor seu inicial,</a:t>
            </a:r>
          </a:p>
          <a:p>
            <a:pPr algn="just"/>
            <a:r>
              <a:rPr lang="pt-BR" dirty="0" smtClean="0"/>
              <a:t> (²) valor do incremento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095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INNER JOIN, LEFT JOIN E RIGHT JOIN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47865" y="2071207"/>
            <a:ext cx="6102160" cy="2171609"/>
          </a:xfrm>
        </p:spPr>
        <p:txBody>
          <a:bodyPr/>
          <a:lstStyle/>
          <a:p>
            <a:pPr algn="just"/>
            <a:r>
              <a:rPr lang="pt-BR" dirty="0"/>
              <a:t>Com a cláusula </a:t>
            </a:r>
            <a:r>
              <a:rPr lang="pt-BR" dirty="0" smtClean="0"/>
              <a:t>JOIN, </a:t>
            </a:r>
            <a:r>
              <a:rPr lang="pt-BR" dirty="0"/>
              <a:t>podemos especificar quais colunas das tabelas serão </a:t>
            </a:r>
            <a:r>
              <a:rPr lang="pt-BR" dirty="0" smtClean="0"/>
              <a:t>associadas, após definir </a:t>
            </a:r>
            <a:r>
              <a:rPr lang="pt-BR" dirty="0"/>
              <a:t>uma chave estrangeira de uma tabela e a chave relacionada em outra tabela.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906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192" y="1728217"/>
            <a:ext cx="7911408" cy="4453128"/>
          </a:xfrm>
        </p:spPr>
      </p:pic>
      <p:sp>
        <p:nvSpPr>
          <p:cNvPr id="7" name="CaixaDeTexto 6"/>
          <p:cNvSpPr txBox="1"/>
          <p:nvPr/>
        </p:nvSpPr>
        <p:spPr>
          <a:xfrm>
            <a:off x="347472" y="1728216"/>
            <a:ext cx="3017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Os recursos para os JOIN, </a:t>
            </a:r>
            <a:r>
              <a:rPr lang="pt-BR" dirty="0"/>
              <a:t>como converter em informação os dados encontrados em duas ou mais tabelas</a:t>
            </a:r>
            <a:r>
              <a:rPr lang="pt-BR" dirty="0" smtClean="0"/>
              <a:t>. Como podemos observar no exemplo: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3412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INNER JOIN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30659" y="1385287"/>
            <a:ext cx="8946541" cy="1257210"/>
          </a:xfrm>
        </p:spPr>
        <p:txBody>
          <a:bodyPr/>
          <a:lstStyle/>
          <a:p>
            <a:pPr algn="just"/>
            <a:r>
              <a:rPr lang="pt-BR" dirty="0"/>
              <a:t>INNER JOIN permite usar um operador de comparação para comparar os valores de colunas </a:t>
            </a:r>
            <a:r>
              <a:rPr lang="pt-BR" dirty="0" smtClean="0"/>
              <a:t>provenientes de </a:t>
            </a:r>
            <a:r>
              <a:rPr lang="pt-BR" dirty="0"/>
              <a:t>tabelas </a:t>
            </a:r>
            <a:r>
              <a:rPr lang="pt-BR" dirty="0" smtClean="0"/>
              <a:t>associadas.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99616" y="2670151"/>
            <a:ext cx="155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rgbClr val="FF0000"/>
                </a:solidFill>
              </a:rPr>
              <a:t>SINTAXE:</a:t>
            </a:r>
            <a:endParaRPr lang="pt-BR" sz="2400" dirty="0">
              <a:solidFill>
                <a:srgbClr val="FF000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718" y="3854866"/>
            <a:ext cx="7051120" cy="1080255"/>
          </a:xfrm>
          <a:prstGeom prst="rect">
            <a:avLst/>
          </a:prstGeom>
        </p:spPr>
      </p:pic>
      <p:cxnSp>
        <p:nvCxnSpPr>
          <p:cNvPr id="13" name="Conector de seta reta 12"/>
          <p:cNvCxnSpPr/>
          <p:nvPr/>
        </p:nvCxnSpPr>
        <p:spPr>
          <a:xfrm flipH="1" flipV="1">
            <a:off x="3559350" y="3409373"/>
            <a:ext cx="3367" cy="417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2904679" y="2940797"/>
            <a:ext cx="168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comando</a:t>
            </a:r>
            <a:endParaRPr lang="pt-BR" dirty="0"/>
          </a:p>
        </p:txBody>
      </p:sp>
      <p:cxnSp>
        <p:nvCxnSpPr>
          <p:cNvPr id="20" name="Conector de seta reta 19"/>
          <p:cNvCxnSpPr/>
          <p:nvPr/>
        </p:nvCxnSpPr>
        <p:spPr>
          <a:xfrm flipH="1" flipV="1">
            <a:off x="4698305" y="3073799"/>
            <a:ext cx="43386" cy="753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4321672" y="2666568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Tabela</a:t>
            </a:r>
            <a:endParaRPr lang="pt-BR" dirty="0"/>
          </a:p>
        </p:txBody>
      </p:sp>
      <p:cxnSp>
        <p:nvCxnSpPr>
          <p:cNvPr id="23" name="Conector de seta reta 22"/>
          <p:cNvCxnSpPr/>
          <p:nvPr/>
        </p:nvCxnSpPr>
        <p:spPr>
          <a:xfrm flipV="1">
            <a:off x="5497110" y="3290025"/>
            <a:ext cx="0" cy="56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5007069" y="2988843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Coluna</a:t>
            </a:r>
            <a:endParaRPr lang="pt-BR" dirty="0"/>
          </a:p>
        </p:txBody>
      </p:sp>
      <p:cxnSp>
        <p:nvCxnSpPr>
          <p:cNvPr id="30" name="Conector de seta reta 29"/>
          <p:cNvCxnSpPr/>
          <p:nvPr/>
        </p:nvCxnSpPr>
        <p:spPr>
          <a:xfrm flipV="1">
            <a:off x="8652558" y="3173509"/>
            <a:ext cx="0" cy="7096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7825248" y="2790350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Tabela Inicial</a:t>
            </a:r>
            <a:endParaRPr lang="pt-BR" dirty="0"/>
          </a:p>
        </p:txBody>
      </p:sp>
      <p:cxnSp>
        <p:nvCxnSpPr>
          <p:cNvPr id="33" name="Conector de seta reta 32"/>
          <p:cNvCxnSpPr/>
          <p:nvPr/>
        </p:nvCxnSpPr>
        <p:spPr>
          <a:xfrm flipH="1">
            <a:off x="2718102" y="4394993"/>
            <a:ext cx="8412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646111" y="4068562"/>
            <a:ext cx="2258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Comando para junção de dados da tabela</a:t>
            </a:r>
            <a:endParaRPr lang="pt-BR" dirty="0"/>
          </a:p>
        </p:txBody>
      </p:sp>
      <p:cxnSp>
        <p:nvCxnSpPr>
          <p:cNvPr id="40" name="Conector angulado 39"/>
          <p:cNvCxnSpPr/>
          <p:nvPr/>
        </p:nvCxnSpPr>
        <p:spPr>
          <a:xfrm rot="10800000" flipV="1">
            <a:off x="3145755" y="4476976"/>
            <a:ext cx="2044028" cy="107138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1354969" y="5325809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Tabela Destino</a:t>
            </a:r>
            <a:endParaRPr lang="pt-BR" dirty="0"/>
          </a:p>
        </p:txBody>
      </p:sp>
      <p:cxnSp>
        <p:nvCxnSpPr>
          <p:cNvPr id="46" name="Conector de seta reta 45"/>
          <p:cNvCxnSpPr/>
          <p:nvPr/>
        </p:nvCxnSpPr>
        <p:spPr>
          <a:xfrm>
            <a:off x="6144768" y="4530227"/>
            <a:ext cx="27432" cy="7955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4741691" y="5372565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relação entre as tabelas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3970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LEFT JOIN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40473" y="1853248"/>
            <a:ext cx="7647496" cy="2098457"/>
          </a:xfrm>
        </p:spPr>
        <p:txBody>
          <a:bodyPr/>
          <a:lstStyle/>
          <a:p>
            <a:pPr algn="just"/>
            <a:r>
              <a:rPr lang="pt-BR" dirty="0"/>
              <a:t>LEFT </a:t>
            </a:r>
            <a:r>
              <a:rPr lang="pt-BR" dirty="0" smtClean="0"/>
              <a:t>JOIN, permite </a:t>
            </a:r>
            <a:r>
              <a:rPr lang="pt-BR" dirty="0"/>
              <a:t>obter não apenas os dados relacionados de duas tabelas, mas também os dados não relacionados encontrados na tabela à esquerda da cláusula JOIN.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487361" y="4351045"/>
            <a:ext cx="202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  <a:latin typeface="+mj-lt"/>
              </a:rPr>
              <a:t>EXEMPLO:</a:t>
            </a:r>
            <a:endParaRPr lang="pt-BR" sz="2400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0" t="640" r="71200" b="47120"/>
          <a:stretch/>
        </p:blipFill>
        <p:spPr>
          <a:xfrm>
            <a:off x="3124137" y="3582162"/>
            <a:ext cx="2758366" cy="247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34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RIGHT JOIN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1074330"/>
          </a:xfrm>
        </p:spPr>
        <p:txBody>
          <a:bodyPr/>
          <a:lstStyle/>
          <a:p>
            <a:pPr algn="just"/>
            <a:r>
              <a:rPr lang="pt-BR" dirty="0"/>
              <a:t>RIGHT </a:t>
            </a:r>
            <a:r>
              <a:rPr lang="pt-BR" dirty="0" smtClean="0"/>
              <a:t>JOIN, </a:t>
            </a:r>
            <a:r>
              <a:rPr lang="pt-BR" dirty="0"/>
              <a:t>retorna todos os dados encontrados na tabela à direita </a:t>
            </a:r>
            <a:r>
              <a:rPr lang="pt-BR" dirty="0" smtClean="0"/>
              <a:t>do </a:t>
            </a:r>
            <a:r>
              <a:rPr lang="pt-BR" dirty="0"/>
              <a:t>JOIN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 flipH="1">
            <a:off x="1764792" y="4261104"/>
            <a:ext cx="158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EXEMPLO:</a:t>
            </a:r>
            <a:endParaRPr lang="pt-BR" b="1" dirty="0">
              <a:solidFill>
                <a:srgbClr val="FF0000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3" t="47733" r="35227" b="-853"/>
          <a:stretch/>
        </p:blipFill>
        <p:spPr>
          <a:xfrm>
            <a:off x="3071616" y="3490897"/>
            <a:ext cx="2276856" cy="21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26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http://</a:t>
            </a:r>
            <a:r>
              <a:rPr lang="pt-BR" dirty="0" smtClean="0">
                <a:hlinkClick r:id="rId2"/>
              </a:rPr>
              <a:t>www.unicode.org/standard/WhatIsUnicode.html</a:t>
            </a:r>
            <a:endParaRPr lang="pt-BR" dirty="0" smtClean="0"/>
          </a:p>
          <a:p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websql.org/websql/help/sqlserver2000/tsql/ts_ia-iz_3ss4.html</a:t>
            </a:r>
            <a:endParaRPr lang="pt-BR" dirty="0" smtClean="0"/>
          </a:p>
          <a:p>
            <a:r>
              <a:rPr lang="pt-BR" dirty="0">
                <a:hlinkClick r:id="rId4"/>
              </a:rPr>
              <a:t>http://</a:t>
            </a:r>
            <a:r>
              <a:rPr lang="pt-BR" dirty="0" smtClean="0">
                <a:hlinkClick r:id="rId4"/>
              </a:rPr>
              <a:t>net-informations.com/q/faq/float.html</a:t>
            </a:r>
            <a:endParaRPr lang="pt-BR" dirty="0" smtClean="0"/>
          </a:p>
          <a:p>
            <a:r>
              <a:rPr lang="pt-BR" dirty="0">
                <a:hlinkClick r:id="rId5"/>
              </a:rPr>
              <a:t>https://</a:t>
            </a:r>
            <a:r>
              <a:rPr lang="pt-BR" dirty="0" smtClean="0">
                <a:hlinkClick r:id="rId5"/>
              </a:rPr>
              <a:t>docs.microsoft.com/pt-br/sql/t-sql/data-types/int-bigint-smallint-and-tinyint-transact-sql?view=sql-server-ver15</a:t>
            </a:r>
            <a:endParaRPr lang="pt-BR" dirty="0" smtClean="0"/>
          </a:p>
          <a:p>
            <a:r>
              <a:rPr lang="pt-BR" dirty="0">
                <a:hlinkClick r:id="rId6"/>
              </a:rPr>
              <a:t>https://</a:t>
            </a:r>
            <a:r>
              <a:rPr lang="pt-BR" dirty="0" smtClean="0">
                <a:hlinkClick r:id="rId6"/>
              </a:rPr>
              <a:t>docs.microsoft.com/pt-br/sql/t-sql/data-types/money-and-smallmoney-transact-sql?view=sql-server-ver15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91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1447</TotalTime>
  <Words>619</Words>
  <Application>Microsoft Office PowerPoint</Application>
  <PresentationFormat>Widescreen</PresentationFormat>
  <Paragraphs>85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Íon</vt:lpstr>
      <vt:lpstr>TIPOS DE DADOS</vt:lpstr>
      <vt:lpstr>O QUE É UNICODE? </vt:lpstr>
      <vt:lpstr>Dados para entrada de texto</vt:lpstr>
      <vt:lpstr>Dados para entrada de numéricos (Suporte para números inteiros)</vt:lpstr>
      <vt:lpstr>Dados para entrada de numéricos (Suporte para casas decimais)</vt:lpstr>
      <vt:lpstr>COMANDOS DDL</vt:lpstr>
      <vt:lpstr>CREATE TABLE: </vt:lpstr>
      <vt:lpstr>ALTER TABLE:</vt:lpstr>
      <vt:lpstr>DROP TABLE: </vt:lpstr>
      <vt:lpstr>PRIMARY KEY</vt:lpstr>
      <vt:lpstr>PRIMARY KEY</vt:lpstr>
      <vt:lpstr>FOREIGN KEY</vt:lpstr>
      <vt:lpstr>FOREIGN KEY</vt:lpstr>
      <vt:lpstr>IDENTITY</vt:lpstr>
      <vt:lpstr>IDENTITY</vt:lpstr>
      <vt:lpstr>INNER JOIN, LEFT JOIN E RIGHT JOIN</vt:lpstr>
      <vt:lpstr>Apresentação do PowerPoint</vt:lpstr>
      <vt:lpstr>INNER JOIN</vt:lpstr>
      <vt:lpstr>LEFT JOIN</vt:lpstr>
      <vt:lpstr>RIGHT JOIN</vt:lpstr>
      <vt:lpstr>BIBLIOGRAFIA</vt:lpstr>
    </vt:vector>
  </TitlesOfParts>
  <Company>Everis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DADOS</dc:title>
  <dc:creator>Isabelly Oliveira Cunha</dc:creator>
  <cp:lastModifiedBy>Leandro Oliveira Nascimento</cp:lastModifiedBy>
  <cp:revision>27</cp:revision>
  <dcterms:created xsi:type="dcterms:W3CDTF">2020-10-27T17:38:15Z</dcterms:created>
  <dcterms:modified xsi:type="dcterms:W3CDTF">2020-10-28T19:29:07Z</dcterms:modified>
</cp:coreProperties>
</file>