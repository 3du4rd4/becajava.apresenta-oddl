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4" r:id="rId3"/>
    <p:sldId id="257" r:id="rId4"/>
    <p:sldId id="258" r:id="rId5"/>
    <p:sldId id="266" r:id="rId6"/>
    <p:sldId id="260" r:id="rId7"/>
    <p:sldId id="261" r:id="rId8"/>
    <p:sldId id="262" r:id="rId9"/>
    <p:sldId id="263" r:id="rId10"/>
    <p:sldId id="265" r:id="rId1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D7ABC-FAF4-4757-B2B6-1A15359B34EE}" type="datetimeFigureOut">
              <a:rPr lang="pt-BR" smtClean="0"/>
              <a:t>27/10/2020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31293-6E65-470D-A401-845605124A5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558675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D7ABC-FAF4-4757-B2B6-1A15359B34EE}" type="datetimeFigureOut">
              <a:rPr lang="pt-BR" smtClean="0"/>
              <a:t>27/10/2020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31293-6E65-470D-A401-845605124A5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532711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D7ABC-FAF4-4757-B2B6-1A15359B34EE}" type="datetimeFigureOut">
              <a:rPr lang="pt-BR" smtClean="0"/>
              <a:t>27/10/2020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31293-6E65-470D-A401-845605124A5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25283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D7ABC-FAF4-4757-B2B6-1A15359B34EE}" type="datetimeFigureOut">
              <a:rPr lang="pt-BR" smtClean="0"/>
              <a:t>27/10/2020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31293-6E65-470D-A401-845605124A5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76306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D7ABC-FAF4-4757-B2B6-1A15359B34EE}" type="datetimeFigureOut">
              <a:rPr lang="pt-BR" smtClean="0"/>
              <a:t>27/10/2020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31293-6E65-470D-A401-845605124A5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61720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D7ABC-FAF4-4757-B2B6-1A15359B34EE}" type="datetimeFigureOut">
              <a:rPr lang="pt-BR" smtClean="0"/>
              <a:t>27/10/2020</a:t>
            </a:fld>
            <a:endParaRPr lang="pt-BR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31293-6E65-470D-A401-845605124A5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720724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D7ABC-FAF4-4757-B2B6-1A15359B34EE}" type="datetimeFigureOut">
              <a:rPr lang="pt-BR" smtClean="0"/>
              <a:t>27/10/2020</a:t>
            </a:fld>
            <a:endParaRPr lang="pt-BR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31293-6E65-470D-A401-845605124A5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91872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D7ABC-FAF4-4757-B2B6-1A15359B34EE}" type="datetimeFigureOut">
              <a:rPr lang="pt-BR" smtClean="0"/>
              <a:t>27/10/2020</a:t>
            </a:fld>
            <a:endParaRPr lang="pt-BR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31293-6E65-470D-A401-845605124A5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192351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D7ABC-FAF4-4757-B2B6-1A15359B34EE}" type="datetimeFigureOut">
              <a:rPr lang="pt-BR" smtClean="0"/>
              <a:t>27/10/2020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31293-6E65-470D-A401-845605124A5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07606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D7ABC-FAF4-4757-B2B6-1A15359B34EE}" type="datetimeFigureOut">
              <a:rPr lang="pt-BR" smtClean="0"/>
              <a:t>27/10/2020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31293-6E65-470D-A401-845605124A5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233324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D7ABC-FAF4-4757-B2B6-1A15359B34EE}" type="datetimeFigureOut">
              <a:rPr lang="pt-BR" smtClean="0"/>
              <a:t>27/10/2020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31293-6E65-470D-A401-845605124A5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703162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pt-BR" smtClean="0"/>
              <a:t>Clique para editar o texto mestre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D7ABC-FAF4-4757-B2B6-1A15359B34EE}" type="datetimeFigureOut">
              <a:rPr lang="pt-BR" smtClean="0"/>
              <a:t>27/10/2020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31293-6E65-470D-A401-845605124A57}" type="slidenum">
              <a:rPr lang="pt-BR" smtClean="0"/>
              <a:t>‹nº›</a:t>
            </a:fld>
            <a:endParaRPr lang="pt-BR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456475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D7ABC-FAF4-4757-B2B6-1A15359B34EE}" type="datetimeFigureOut">
              <a:rPr lang="pt-BR" smtClean="0"/>
              <a:t>27/10/2020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31293-6E65-470D-A401-845605124A5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275318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D7ABC-FAF4-4757-B2B6-1A15359B34EE}" type="datetimeFigureOut">
              <a:rPr lang="pt-BR" smtClean="0"/>
              <a:t>27/10/2020</a:t>
            </a:fld>
            <a:endParaRPr lang="pt-B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31293-6E65-470D-A401-845605124A5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937153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D7ABC-FAF4-4757-B2B6-1A15359B34EE}" type="datetimeFigureOut">
              <a:rPr lang="pt-BR" smtClean="0"/>
              <a:t>27/10/2020</a:t>
            </a:fld>
            <a:endParaRPr lang="pt-B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31293-6E65-470D-A401-845605124A5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333856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D7ABC-FAF4-4757-B2B6-1A15359B34EE}" type="datetimeFigureOut">
              <a:rPr lang="pt-BR" smtClean="0"/>
              <a:t>27/10/2020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31293-6E65-470D-A401-845605124A5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1477546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D7ABC-FAF4-4757-B2B6-1A15359B34EE}" type="datetimeFigureOut">
              <a:rPr lang="pt-BR" smtClean="0"/>
              <a:t>27/10/2020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31293-6E65-470D-A401-845605124A5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961314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398D7ABC-FAF4-4757-B2B6-1A15359B34EE}" type="datetimeFigureOut">
              <a:rPr lang="pt-BR" smtClean="0"/>
              <a:t>27/10/2020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031293-6E65-470D-A401-845605124A5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5482086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websql.org/websql/help/sqlserver2000/tsql/ts_ia-iz_3ss4.html" TargetMode="External"/><Relationship Id="rId2" Type="http://schemas.openxmlformats.org/officeDocument/2006/relationships/hyperlink" Target="http://www.unicode.org/standard/WhatIsUnicode.html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cs.microsoft.com/pt-br/sql/t-sql/data-types/money-and-smallmoney-transact-sql?view=sql-server-ver15" TargetMode="External"/><Relationship Id="rId5" Type="http://schemas.openxmlformats.org/officeDocument/2006/relationships/hyperlink" Target="https://docs.microsoft.com/pt-br/sql/t-sql/data-types/int-bigint-smallint-and-tinyint-transact-sql?view=sql-server-ver15" TargetMode="External"/><Relationship Id="rId4" Type="http://schemas.openxmlformats.org/officeDocument/2006/relationships/hyperlink" Target="http://net-informations.com/q/faq/float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smtClean="0"/>
              <a:t>TIPOS DE DADOS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270865" y="4777381"/>
            <a:ext cx="8825658" cy="861420"/>
          </a:xfrm>
        </p:spPr>
        <p:txBody>
          <a:bodyPr/>
          <a:lstStyle/>
          <a:p>
            <a:r>
              <a:rPr lang="pt-BR" b="1" dirty="0" smtClean="0"/>
              <a:t>Diferenças e aplicações em </a:t>
            </a:r>
            <a:r>
              <a:rPr lang="pt-BR" b="1" dirty="0" err="1" smtClean="0"/>
              <a:t>sql</a:t>
            </a:r>
            <a:r>
              <a:rPr lang="pt-BR" b="1" dirty="0" smtClean="0"/>
              <a:t>.</a:t>
            </a:r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6982661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O QUE É UNICODE? 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pt-BR" dirty="0" smtClean="0"/>
              <a:t>Unicode é uma forma diferente de armazenamento de dados. </a:t>
            </a:r>
            <a:r>
              <a:rPr lang="pt-BR" dirty="0"/>
              <a:t>O padrão Unicode fornece um número exclusivo para cada caractere, independentemente da plataforma, dispositivo, aplicativo ou idioma</a:t>
            </a:r>
            <a:r>
              <a:rPr lang="pt-BR" dirty="0" smtClean="0"/>
              <a:t>.</a:t>
            </a:r>
          </a:p>
          <a:p>
            <a:pPr algn="just"/>
            <a:r>
              <a:rPr lang="pt-BR" dirty="0" smtClean="0"/>
              <a:t>Exemplo: </a:t>
            </a:r>
          </a:p>
          <a:p>
            <a:pPr marL="0" indent="0" algn="just">
              <a:buNone/>
            </a:pPr>
            <a:r>
              <a:rPr lang="pl-PL" dirty="0" smtClean="0"/>
              <a:t>B-U+0042</a:t>
            </a:r>
            <a:r>
              <a:rPr lang="pl-PL" dirty="0"/>
              <a:t/>
            </a:r>
            <a:br>
              <a:rPr lang="pl-PL" dirty="0"/>
            </a:br>
            <a:r>
              <a:rPr lang="pl-PL" dirty="0" smtClean="0"/>
              <a:t>R-U+0052</a:t>
            </a:r>
            <a:r>
              <a:rPr lang="pl-PL" dirty="0"/>
              <a:t/>
            </a:r>
            <a:br>
              <a:rPr lang="pl-PL" dirty="0"/>
            </a:br>
            <a:r>
              <a:rPr lang="pl-PL" dirty="0" smtClean="0"/>
              <a:t>A-U+0041</a:t>
            </a:r>
            <a:r>
              <a:rPr lang="pl-PL" dirty="0"/>
              <a:t/>
            </a:r>
            <a:br>
              <a:rPr lang="pl-PL" dirty="0"/>
            </a:br>
            <a:r>
              <a:rPr lang="pl-PL" dirty="0" smtClean="0"/>
              <a:t>S-U+0053</a:t>
            </a:r>
            <a:r>
              <a:rPr lang="pl-PL" dirty="0"/>
              <a:t/>
            </a:r>
            <a:br>
              <a:rPr lang="pl-PL" dirty="0"/>
            </a:br>
            <a:r>
              <a:rPr lang="pl-PL" dirty="0" smtClean="0"/>
              <a:t>I-U+0049</a:t>
            </a:r>
            <a:r>
              <a:rPr lang="pl-PL" dirty="0"/>
              <a:t/>
            </a:r>
            <a:br>
              <a:rPr lang="pl-PL" dirty="0"/>
            </a:br>
            <a:r>
              <a:rPr lang="pt-BR" dirty="0" smtClean="0"/>
              <a:t>								   </a:t>
            </a:r>
            <a:r>
              <a:rPr lang="pl-PL" dirty="0" smtClean="0"/>
              <a:t>L-U+004C</a:t>
            </a:r>
            <a:endParaRPr lang="pt-BR" dirty="0" smtClean="0"/>
          </a:p>
        </p:txBody>
      </p:sp>
    </p:spTree>
    <p:extLst>
      <p:ext uri="{BB962C8B-B14F-4D97-AF65-F5344CB8AC3E}">
        <p14:creationId xmlns:p14="http://schemas.microsoft.com/office/powerpoint/2010/main" val="1652004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Dados para entrada de texto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103312" y="2052918"/>
            <a:ext cx="8946541" cy="4412276"/>
          </a:xfrm>
        </p:spPr>
        <p:txBody>
          <a:bodyPr>
            <a:normAutofit fontScale="92500" lnSpcReduction="20000"/>
          </a:bodyPr>
          <a:lstStyle/>
          <a:p>
            <a:r>
              <a:rPr lang="pt-BR" b="1" dirty="0" smtClean="0"/>
              <a:t>CHAR – </a:t>
            </a:r>
            <a:r>
              <a:rPr lang="pt-BR" dirty="0"/>
              <a:t>Sequência de caracteres de tamanho fixo. Máximo 8000 </a:t>
            </a:r>
            <a:r>
              <a:rPr lang="pt-BR" dirty="0" smtClean="0"/>
              <a:t>caracteres.</a:t>
            </a:r>
          </a:p>
          <a:p>
            <a:endParaRPr lang="pt-BR" b="1" dirty="0"/>
          </a:p>
          <a:p>
            <a:r>
              <a:rPr lang="pt-BR" b="1" dirty="0" smtClean="0"/>
              <a:t>NCHAR – </a:t>
            </a:r>
            <a:r>
              <a:rPr lang="pt-BR" dirty="0"/>
              <a:t>Dados Unicode de comprimento fixo. Máximo 4000 </a:t>
            </a:r>
            <a:r>
              <a:rPr lang="pt-BR" dirty="0" smtClean="0"/>
              <a:t>caracteres.</a:t>
            </a:r>
          </a:p>
          <a:p>
            <a:endParaRPr lang="pt-BR" b="1" dirty="0" smtClean="0"/>
          </a:p>
          <a:p>
            <a:r>
              <a:rPr lang="pt-BR" b="1" dirty="0"/>
              <a:t>VARCHAR </a:t>
            </a:r>
            <a:r>
              <a:rPr lang="pt-BR" b="1" dirty="0" smtClean="0"/>
              <a:t>– </a:t>
            </a:r>
            <a:r>
              <a:rPr lang="pt-BR" dirty="0" smtClean="0"/>
              <a:t>Sequência </a:t>
            </a:r>
            <a:r>
              <a:rPr lang="pt-BR" dirty="0"/>
              <a:t>de caracteres de tamanho variável. Máximo de 1.073.741.824 caracteres</a:t>
            </a:r>
            <a:r>
              <a:rPr lang="pt-BR" dirty="0" smtClean="0"/>
              <a:t>.</a:t>
            </a:r>
          </a:p>
          <a:p>
            <a:endParaRPr lang="pt-BR" b="1" dirty="0"/>
          </a:p>
          <a:p>
            <a:r>
              <a:rPr lang="pt-BR" b="1" dirty="0" smtClean="0"/>
              <a:t>NVARCHAR – </a:t>
            </a:r>
            <a:r>
              <a:rPr lang="pt-BR" dirty="0"/>
              <a:t>Dados Unicode de comprimento </a:t>
            </a:r>
            <a:r>
              <a:rPr lang="pt-BR" dirty="0" smtClean="0"/>
              <a:t>variável. Máximo </a:t>
            </a:r>
            <a:r>
              <a:rPr lang="pt-BR" dirty="0"/>
              <a:t>536.870.912 </a:t>
            </a:r>
            <a:r>
              <a:rPr lang="pt-BR" dirty="0" smtClean="0"/>
              <a:t>caracteres.</a:t>
            </a:r>
            <a:endParaRPr lang="pt-BR" b="1" dirty="0" smtClean="0"/>
          </a:p>
          <a:p>
            <a:endParaRPr lang="pt-BR" b="1" dirty="0"/>
          </a:p>
          <a:p>
            <a:r>
              <a:rPr lang="pt-BR" b="1" dirty="0" smtClean="0"/>
              <a:t>NTEXT – </a:t>
            </a:r>
            <a:r>
              <a:rPr lang="pt-BR" dirty="0"/>
              <a:t>Dados Unicode de comprimento variável. Máximo 2GB de dados de </a:t>
            </a:r>
            <a:r>
              <a:rPr lang="pt-BR" dirty="0" smtClean="0"/>
              <a:t>texto.</a:t>
            </a:r>
            <a:endParaRPr lang="pt-BR" b="1" dirty="0" smtClean="0"/>
          </a:p>
          <a:p>
            <a:endParaRPr lang="pt-BR" b="1" dirty="0"/>
          </a:p>
          <a:p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14933891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Dados para entrada de numéricos</a:t>
            </a:r>
            <a:br>
              <a:rPr lang="pt-BR" dirty="0" smtClean="0"/>
            </a:br>
            <a:r>
              <a:rPr lang="pt-BR" sz="1800" dirty="0"/>
              <a:t>(Suporte para </a:t>
            </a:r>
            <a:r>
              <a:rPr lang="pt-BR" sz="1800" dirty="0" smtClean="0"/>
              <a:t>números inteiros)</a:t>
            </a:r>
            <a:endParaRPr lang="pt-BR" sz="180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b="1" dirty="0"/>
              <a:t>TINYINT </a:t>
            </a:r>
            <a:r>
              <a:rPr lang="pt-BR" b="1" dirty="0" smtClean="0"/>
              <a:t>– </a:t>
            </a:r>
            <a:r>
              <a:rPr lang="en-US" dirty="0" smtClean="0"/>
              <a:t>1 </a:t>
            </a:r>
            <a:r>
              <a:rPr lang="en-US" dirty="0"/>
              <a:t>byte, 0 a </a:t>
            </a:r>
            <a:r>
              <a:rPr lang="en-US" dirty="0" smtClean="0"/>
              <a:t>255.</a:t>
            </a:r>
            <a:endParaRPr lang="pt-BR" b="1" dirty="0" smtClean="0"/>
          </a:p>
          <a:p>
            <a:r>
              <a:rPr lang="pt-BR" b="1" dirty="0"/>
              <a:t>SMALLINT – </a:t>
            </a:r>
            <a:r>
              <a:rPr lang="pt-BR" dirty="0"/>
              <a:t>2 bytes, -2 ^ 15 (-32.768) a 2 ^ 15-1 (32.767</a:t>
            </a:r>
            <a:r>
              <a:rPr lang="pt-BR" dirty="0" smtClean="0"/>
              <a:t>).</a:t>
            </a:r>
            <a:endParaRPr lang="pt-BR" b="1" dirty="0"/>
          </a:p>
          <a:p>
            <a:r>
              <a:rPr lang="pt-BR" b="1" dirty="0"/>
              <a:t>INT – </a:t>
            </a:r>
            <a:r>
              <a:rPr lang="pt-BR" dirty="0"/>
              <a:t>4 bytes, -2 ^ 31 (-2.147.483.648) a 2 ^ 31-1 (2.147.483.647</a:t>
            </a:r>
            <a:r>
              <a:rPr lang="pt-BR" dirty="0" smtClean="0"/>
              <a:t>).</a:t>
            </a:r>
            <a:endParaRPr lang="pt-BR" b="1" dirty="0" smtClean="0"/>
          </a:p>
          <a:p>
            <a:r>
              <a:rPr lang="pt-BR" b="1" dirty="0" smtClean="0"/>
              <a:t>BIGINT – </a:t>
            </a:r>
            <a:r>
              <a:rPr lang="pt-BR" dirty="0"/>
              <a:t>8 bytes, -2 ^ 63 (-9.223.372.036.854.775.808) a 2 ^ 63-1 (9.223.372.036.854.775.807</a:t>
            </a:r>
            <a:r>
              <a:rPr lang="pt-BR" dirty="0" smtClean="0"/>
              <a:t>).</a:t>
            </a:r>
            <a:endParaRPr lang="pt-BR" b="1" dirty="0" smtClean="0"/>
          </a:p>
          <a:p>
            <a:pPr marL="0" indent="0">
              <a:buNone/>
            </a:pPr>
            <a:endParaRPr lang="pt-BR" b="1" dirty="0" smtClean="0"/>
          </a:p>
          <a:p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36214115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Dados </a:t>
            </a:r>
            <a:r>
              <a:rPr lang="pt-BR" dirty="0"/>
              <a:t>para entrada de </a:t>
            </a:r>
            <a:r>
              <a:rPr lang="pt-BR" dirty="0" smtClean="0"/>
              <a:t>numéricos</a:t>
            </a:r>
            <a:br>
              <a:rPr lang="pt-BR" dirty="0" smtClean="0"/>
            </a:br>
            <a:r>
              <a:rPr lang="pt-BR" sz="1800" dirty="0" smtClean="0"/>
              <a:t>(Suporte para casas decimais)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/>
              <a:t>FLOAT – </a:t>
            </a:r>
            <a:r>
              <a:rPr lang="pt-BR" dirty="0"/>
              <a:t>32 bit (7 dígitos).</a:t>
            </a:r>
            <a:endParaRPr lang="pt-BR" b="1" dirty="0"/>
          </a:p>
          <a:p>
            <a:r>
              <a:rPr lang="pt-BR" b="1" dirty="0"/>
              <a:t>REAL – </a:t>
            </a:r>
            <a:r>
              <a:rPr lang="pt-BR" dirty="0"/>
              <a:t>64 bits (15-16 dígitos).</a:t>
            </a:r>
            <a:endParaRPr lang="pt-BR" b="1" dirty="0"/>
          </a:p>
          <a:p>
            <a:r>
              <a:rPr lang="pt-BR" b="1" dirty="0"/>
              <a:t>DECIMAL – </a:t>
            </a:r>
            <a:r>
              <a:rPr lang="pt-BR" dirty="0"/>
              <a:t>128 bits (28-29 dígitos significativos).</a:t>
            </a:r>
            <a:endParaRPr lang="pt-BR" b="1" dirty="0"/>
          </a:p>
          <a:p>
            <a:r>
              <a:rPr lang="pt-BR" b="1" dirty="0"/>
              <a:t>SMALLMONEY – </a:t>
            </a:r>
            <a:r>
              <a:rPr lang="pt-BR" dirty="0"/>
              <a:t>8 bytes (-922.337.203.685.477,5808 a 922.337.203.685.477,5807) mantendo apenas duas casas após a vírgula.</a:t>
            </a:r>
            <a:endParaRPr lang="pt-BR" b="1" dirty="0"/>
          </a:p>
          <a:p>
            <a:r>
              <a:rPr lang="pt-BR" b="1" dirty="0"/>
              <a:t>MONEY – </a:t>
            </a:r>
            <a:r>
              <a:rPr lang="pt-BR" dirty="0"/>
              <a:t>4 bytes (-214.748,3648 a 214.748,3647).</a:t>
            </a:r>
            <a:endParaRPr lang="pt-BR" b="1" dirty="0"/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91988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smtClean="0"/>
              <a:t>COMANDOS DDL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270865" y="4777381"/>
            <a:ext cx="8825658" cy="861420"/>
          </a:xfrm>
        </p:spPr>
        <p:txBody>
          <a:bodyPr/>
          <a:lstStyle/>
          <a:p>
            <a:r>
              <a:rPr lang="pt-BR" b="1" dirty="0" err="1" smtClean="0"/>
              <a:t>Create</a:t>
            </a:r>
            <a:r>
              <a:rPr lang="pt-BR" b="1" dirty="0" smtClean="0"/>
              <a:t>, </a:t>
            </a:r>
            <a:r>
              <a:rPr lang="pt-BR" b="1" dirty="0" err="1" smtClean="0"/>
              <a:t>alter</a:t>
            </a:r>
            <a:r>
              <a:rPr lang="pt-BR" b="1" dirty="0" smtClean="0"/>
              <a:t> e </a:t>
            </a:r>
            <a:r>
              <a:rPr lang="pt-BR" b="1" dirty="0" err="1" smtClean="0"/>
              <a:t>drop</a:t>
            </a:r>
            <a:r>
              <a:rPr lang="pt-BR" b="1" dirty="0" smtClean="0"/>
              <a:t> </a:t>
            </a:r>
            <a:r>
              <a:rPr lang="pt-BR" b="1" dirty="0" err="1" smtClean="0"/>
              <a:t>table</a:t>
            </a:r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37233088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CREATE TABLE: </a:t>
            </a:r>
            <a:endParaRPr lang="pt-BR" dirty="0"/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8895" y="2847828"/>
            <a:ext cx="2902627" cy="1273410"/>
          </a:xfrm>
        </p:spPr>
      </p:pic>
      <p:cxnSp>
        <p:nvCxnSpPr>
          <p:cNvPr id="8" name="Conector de seta reta 7"/>
          <p:cNvCxnSpPr/>
          <p:nvPr/>
        </p:nvCxnSpPr>
        <p:spPr>
          <a:xfrm>
            <a:off x="3451538" y="2485623"/>
            <a:ext cx="862885" cy="25757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CaixaDeTexto 9"/>
          <p:cNvSpPr txBox="1"/>
          <p:nvPr/>
        </p:nvSpPr>
        <p:spPr>
          <a:xfrm>
            <a:off x="694948" y="1746959"/>
            <a:ext cx="266592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dirty="0" smtClean="0"/>
              <a:t>Instrução da </a:t>
            </a:r>
            <a:r>
              <a:rPr lang="pt-BR" dirty="0" smtClean="0"/>
              <a:t>linguagem SQL para criação de tabelas. </a:t>
            </a:r>
            <a:r>
              <a:rPr lang="pt-BR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SEMPRE USE LETRAS MAIÚSCULAS.</a:t>
            </a:r>
            <a:endParaRPr lang="pt-BR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2" name="Conector de seta reta 11"/>
          <p:cNvCxnSpPr/>
          <p:nvPr/>
        </p:nvCxnSpPr>
        <p:spPr>
          <a:xfrm flipH="1">
            <a:off x="6503831" y="2369713"/>
            <a:ext cx="386366" cy="37348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CaixaDeTexto 12"/>
          <p:cNvSpPr txBox="1"/>
          <p:nvPr/>
        </p:nvSpPr>
        <p:spPr>
          <a:xfrm>
            <a:off x="7071522" y="1700011"/>
            <a:ext cx="32573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dirty="0" smtClean="0"/>
              <a:t>Nome da tabela. Sempre com a primeira letra maiúscula.</a:t>
            </a:r>
            <a:endParaRPr lang="pt-BR" dirty="0"/>
          </a:p>
        </p:txBody>
      </p:sp>
      <p:cxnSp>
        <p:nvCxnSpPr>
          <p:cNvPr id="15" name="Conector de seta reta 14"/>
          <p:cNvCxnSpPr/>
          <p:nvPr/>
        </p:nvCxnSpPr>
        <p:spPr>
          <a:xfrm flipV="1">
            <a:off x="3451538" y="3438659"/>
            <a:ext cx="1081825" cy="88864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" name="CaixaDeTexto 16"/>
          <p:cNvSpPr txBox="1"/>
          <p:nvPr/>
        </p:nvSpPr>
        <p:spPr>
          <a:xfrm>
            <a:off x="1983346" y="4559121"/>
            <a:ext cx="27689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dirty="0" smtClean="0"/>
              <a:t>Nome das </a:t>
            </a:r>
            <a:r>
              <a:rPr lang="pt-BR" dirty="0" smtClean="0"/>
              <a:t>colunas </a:t>
            </a:r>
            <a:r>
              <a:rPr lang="pt-BR" dirty="0" smtClean="0"/>
              <a:t>da tabela.</a:t>
            </a:r>
            <a:endParaRPr lang="pt-BR" dirty="0"/>
          </a:p>
        </p:txBody>
      </p:sp>
      <p:cxnSp>
        <p:nvCxnSpPr>
          <p:cNvPr id="19" name="Conector de seta reta 18"/>
          <p:cNvCxnSpPr/>
          <p:nvPr/>
        </p:nvCxnSpPr>
        <p:spPr>
          <a:xfrm flipH="1" flipV="1">
            <a:off x="6181859" y="3309870"/>
            <a:ext cx="1506828" cy="23182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1" name="CaixaDeTexto 20"/>
          <p:cNvSpPr txBox="1"/>
          <p:nvPr/>
        </p:nvSpPr>
        <p:spPr>
          <a:xfrm>
            <a:off x="7907628" y="3528811"/>
            <a:ext cx="32068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dirty="0" smtClean="0"/>
              <a:t>Tipo de dados que a coluna irá armazenar.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65157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ALTER TABLE:</a:t>
            </a:r>
            <a:endParaRPr lang="pt-BR" dirty="0"/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9915" y="2899692"/>
            <a:ext cx="4663105" cy="899575"/>
          </a:xfrm>
        </p:spPr>
      </p:pic>
      <p:cxnSp>
        <p:nvCxnSpPr>
          <p:cNvPr id="8" name="Conector de seta reta 7"/>
          <p:cNvCxnSpPr/>
          <p:nvPr/>
        </p:nvCxnSpPr>
        <p:spPr>
          <a:xfrm>
            <a:off x="3013656" y="2562896"/>
            <a:ext cx="1030310" cy="39924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CaixaDeTexto 8"/>
          <p:cNvSpPr txBox="1"/>
          <p:nvPr/>
        </p:nvSpPr>
        <p:spPr>
          <a:xfrm>
            <a:off x="1287887" y="1853248"/>
            <a:ext cx="300077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dirty="0" smtClean="0"/>
              <a:t>Instrução que permite alterar determinada tabela.</a:t>
            </a:r>
            <a:endParaRPr lang="pt-BR" dirty="0"/>
          </a:p>
        </p:txBody>
      </p:sp>
      <p:cxnSp>
        <p:nvCxnSpPr>
          <p:cNvPr id="11" name="Conector de seta reta 10"/>
          <p:cNvCxnSpPr/>
          <p:nvPr/>
        </p:nvCxnSpPr>
        <p:spPr>
          <a:xfrm flipH="1">
            <a:off x="6104586" y="2314913"/>
            <a:ext cx="1790163" cy="74697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" name="CaixaDeTexto 11"/>
          <p:cNvSpPr txBox="1"/>
          <p:nvPr/>
        </p:nvSpPr>
        <p:spPr>
          <a:xfrm>
            <a:off x="8193020" y="2002982"/>
            <a:ext cx="37456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Nome da tabela a ser alterada.</a:t>
            </a:r>
            <a:endParaRPr lang="pt-BR" dirty="0"/>
          </a:p>
        </p:txBody>
      </p:sp>
      <p:cxnSp>
        <p:nvCxnSpPr>
          <p:cNvPr id="14" name="Conector de seta reta 13"/>
          <p:cNvCxnSpPr/>
          <p:nvPr/>
        </p:nvCxnSpPr>
        <p:spPr>
          <a:xfrm flipV="1">
            <a:off x="3657600" y="3593206"/>
            <a:ext cx="1004552" cy="79849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CaixaDeTexto 15"/>
          <p:cNvSpPr txBox="1"/>
          <p:nvPr/>
        </p:nvSpPr>
        <p:spPr>
          <a:xfrm>
            <a:off x="1378039" y="4559122"/>
            <a:ext cx="248562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dirty="0" smtClean="0"/>
              <a:t>Instrução que define o que será alterado (no caso, será alteração de coluna).</a:t>
            </a:r>
            <a:endParaRPr lang="pt-BR" dirty="0"/>
          </a:p>
        </p:txBody>
      </p:sp>
      <p:cxnSp>
        <p:nvCxnSpPr>
          <p:cNvPr id="18" name="Conector de seta reta 17"/>
          <p:cNvCxnSpPr/>
          <p:nvPr/>
        </p:nvCxnSpPr>
        <p:spPr>
          <a:xfrm flipH="1" flipV="1">
            <a:off x="6220496" y="3593206"/>
            <a:ext cx="270456" cy="79849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9" name="CaixaDeTexto 18"/>
          <p:cNvSpPr txBox="1"/>
          <p:nvPr/>
        </p:nvSpPr>
        <p:spPr>
          <a:xfrm>
            <a:off x="5447763" y="4700789"/>
            <a:ext cx="21765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dirty="0" smtClean="0"/>
              <a:t>Nome da coluna que será alterada.</a:t>
            </a:r>
            <a:endParaRPr lang="pt-BR" dirty="0"/>
          </a:p>
        </p:txBody>
      </p:sp>
      <p:cxnSp>
        <p:nvCxnSpPr>
          <p:cNvPr id="21" name="Conector de seta reta 20"/>
          <p:cNvCxnSpPr/>
          <p:nvPr/>
        </p:nvCxnSpPr>
        <p:spPr>
          <a:xfrm flipH="1" flipV="1">
            <a:off x="7650052" y="3589267"/>
            <a:ext cx="953035" cy="51906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3" name="CaixaDeTexto 22"/>
          <p:cNvSpPr txBox="1"/>
          <p:nvPr/>
        </p:nvSpPr>
        <p:spPr>
          <a:xfrm>
            <a:off x="8698552" y="4108332"/>
            <a:ext cx="27045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dirty="0" smtClean="0"/>
              <a:t>Alteração do número de caracteres que a variável do tipo </a:t>
            </a:r>
            <a:r>
              <a:rPr lang="pt-BR" dirty="0" err="1" smtClean="0"/>
              <a:t>varchar</a:t>
            </a:r>
            <a:r>
              <a:rPr lang="pt-BR" dirty="0" smtClean="0"/>
              <a:t> receberá.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779811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DROP TABLE: </a:t>
            </a:r>
            <a:endParaRPr lang="pt-BR" dirty="0"/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9099" y="3533926"/>
            <a:ext cx="4810882" cy="574434"/>
          </a:xfrm>
        </p:spPr>
      </p:pic>
      <p:sp>
        <p:nvSpPr>
          <p:cNvPr id="5" name="Chave direita 4"/>
          <p:cNvSpPr/>
          <p:nvPr/>
        </p:nvSpPr>
        <p:spPr>
          <a:xfrm rot="16200000">
            <a:off x="4064017" y="2647200"/>
            <a:ext cx="309093" cy="1442434"/>
          </a:xfrm>
          <a:prstGeom prst="rightBrac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/>
          <p:cNvSpPr txBox="1"/>
          <p:nvPr/>
        </p:nvSpPr>
        <p:spPr>
          <a:xfrm>
            <a:off x="2998501" y="2516712"/>
            <a:ext cx="24401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dirty="0" smtClean="0"/>
              <a:t>Comando para exclusão de tabela.</a:t>
            </a:r>
            <a:endParaRPr lang="pt-BR" dirty="0"/>
          </a:p>
        </p:txBody>
      </p:sp>
      <p:sp>
        <p:nvSpPr>
          <p:cNvPr id="7" name="Chave direita 6"/>
          <p:cNvSpPr/>
          <p:nvPr/>
        </p:nvSpPr>
        <p:spPr>
          <a:xfrm rot="5400000">
            <a:off x="5705341" y="3607360"/>
            <a:ext cx="373488" cy="1357394"/>
          </a:xfrm>
          <a:prstGeom prst="rightBrac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CaixaDeTexto 7"/>
          <p:cNvSpPr txBox="1"/>
          <p:nvPr/>
        </p:nvSpPr>
        <p:spPr>
          <a:xfrm>
            <a:off x="4414898" y="4546239"/>
            <a:ext cx="31965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dirty="0" smtClean="0"/>
              <a:t>Verifica se a tabela existe antes de executar o comando de exclusão.</a:t>
            </a:r>
            <a:endParaRPr lang="pt-BR" dirty="0"/>
          </a:p>
        </p:txBody>
      </p:sp>
      <p:cxnSp>
        <p:nvCxnSpPr>
          <p:cNvPr id="10" name="Conector de seta reta 9"/>
          <p:cNvCxnSpPr/>
          <p:nvPr/>
        </p:nvCxnSpPr>
        <p:spPr>
          <a:xfrm flipH="1">
            <a:off x="7804597" y="3342660"/>
            <a:ext cx="862885" cy="25826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" name="CaixaDeTexto 10"/>
          <p:cNvSpPr txBox="1"/>
          <p:nvPr/>
        </p:nvSpPr>
        <p:spPr>
          <a:xfrm>
            <a:off x="8603087" y="2839877"/>
            <a:ext cx="23439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dirty="0" smtClean="0"/>
              <a:t>Nome da tabela que será excluída.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62834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BIBLIOGRAFIA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>
                <a:hlinkClick r:id="rId2"/>
              </a:rPr>
              <a:t>http://</a:t>
            </a:r>
            <a:r>
              <a:rPr lang="pt-BR" dirty="0" smtClean="0">
                <a:hlinkClick r:id="rId2"/>
              </a:rPr>
              <a:t>www.unicode.org/standard/WhatIsUnicode.html</a:t>
            </a:r>
            <a:endParaRPr lang="pt-BR" dirty="0" smtClean="0"/>
          </a:p>
          <a:p>
            <a:r>
              <a:rPr lang="pt-BR" dirty="0">
                <a:hlinkClick r:id="rId3"/>
              </a:rPr>
              <a:t>http://</a:t>
            </a:r>
            <a:r>
              <a:rPr lang="pt-BR" dirty="0" smtClean="0">
                <a:hlinkClick r:id="rId3"/>
              </a:rPr>
              <a:t>websql.org/websql/help/sqlserver2000/tsql/ts_ia-iz_3ss4.html</a:t>
            </a:r>
            <a:endParaRPr lang="pt-BR" dirty="0" smtClean="0"/>
          </a:p>
          <a:p>
            <a:r>
              <a:rPr lang="pt-BR" dirty="0">
                <a:hlinkClick r:id="rId4"/>
              </a:rPr>
              <a:t>http://</a:t>
            </a:r>
            <a:r>
              <a:rPr lang="pt-BR" dirty="0" smtClean="0">
                <a:hlinkClick r:id="rId4"/>
              </a:rPr>
              <a:t>net-informations.com/q/faq/float.html</a:t>
            </a:r>
            <a:endParaRPr lang="pt-BR" dirty="0" smtClean="0"/>
          </a:p>
          <a:p>
            <a:r>
              <a:rPr lang="pt-BR" dirty="0">
                <a:hlinkClick r:id="rId5"/>
              </a:rPr>
              <a:t>https://</a:t>
            </a:r>
            <a:r>
              <a:rPr lang="pt-BR" dirty="0" smtClean="0">
                <a:hlinkClick r:id="rId5"/>
              </a:rPr>
              <a:t>docs.microsoft.com/pt-br/sql/t-sql/data-types/int-bigint-smallint-and-tinyint-transact-sql?view=sql-server-ver15</a:t>
            </a:r>
            <a:endParaRPr lang="pt-BR" dirty="0" smtClean="0"/>
          </a:p>
          <a:p>
            <a:r>
              <a:rPr lang="pt-BR" dirty="0">
                <a:hlinkClick r:id="rId6"/>
              </a:rPr>
              <a:t>https://</a:t>
            </a:r>
            <a:r>
              <a:rPr lang="pt-BR" dirty="0" smtClean="0">
                <a:hlinkClick r:id="rId6"/>
              </a:rPr>
              <a:t>docs.microsoft.com/pt-br/sql/t-sql/data-types/money-and-smallmoney-transact-sql?view=sql-server-ver15</a:t>
            </a:r>
            <a:endParaRPr lang="pt-BR" dirty="0" smtClean="0"/>
          </a:p>
          <a:p>
            <a:pPr marL="0" indent="0">
              <a:buNone/>
            </a:pPr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291443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Íon">
  <a:themeElements>
    <a:clrScheme name="Í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Í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Í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125</TotalTime>
  <Words>395</Words>
  <Application>Microsoft Office PowerPoint</Application>
  <PresentationFormat>Widescreen</PresentationFormat>
  <Paragraphs>50</Paragraphs>
  <Slides>10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4" baseType="lpstr">
      <vt:lpstr>Arial</vt:lpstr>
      <vt:lpstr>Century Gothic</vt:lpstr>
      <vt:lpstr>Wingdings 3</vt:lpstr>
      <vt:lpstr>Íon</vt:lpstr>
      <vt:lpstr>TIPOS DE DADOS</vt:lpstr>
      <vt:lpstr>O QUE É UNICODE? </vt:lpstr>
      <vt:lpstr>Dados para entrada de texto</vt:lpstr>
      <vt:lpstr>Dados para entrada de numéricos (Suporte para números inteiros)</vt:lpstr>
      <vt:lpstr>Dados para entrada de numéricos (Suporte para casas decimais)</vt:lpstr>
      <vt:lpstr>COMANDOS DDL</vt:lpstr>
      <vt:lpstr>CREATE TABLE: </vt:lpstr>
      <vt:lpstr>ALTER TABLE:</vt:lpstr>
      <vt:lpstr>DROP TABLE: </vt:lpstr>
      <vt:lpstr>BIBLIOGRAFIA</vt:lpstr>
    </vt:vector>
  </TitlesOfParts>
  <Company>Everis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TIPOS DE DADOS</dc:title>
  <dc:creator>Isabelly Oliveira Cunha</dc:creator>
  <cp:lastModifiedBy>Eduarda Oliveira Filadelfo</cp:lastModifiedBy>
  <cp:revision>13</cp:revision>
  <dcterms:created xsi:type="dcterms:W3CDTF">2020-10-27T17:38:15Z</dcterms:created>
  <dcterms:modified xsi:type="dcterms:W3CDTF">2020-10-27T20:15:20Z</dcterms:modified>
</cp:coreProperties>
</file>